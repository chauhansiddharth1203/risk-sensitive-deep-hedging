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22222"/>
                </a:solidFill>
                <a:latin typeface="Helvetica"/>
              </a:rPr>
              <a:t>Deep hedging with CVaR under Heston stochastic volatility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1">
                <a:solidFill>
                  <a:srgbClr val="003366"/>
                </a:solidFill>
                <a:latin typeface="Helvetica"/>
              </a:rPr>
              <a:t>A twelve-week progression: simulator wins  →  reality-check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1">
                <a:solidFill>
                  <a:srgbClr val="003366"/>
                </a:solidFill>
                <a:latin typeface="Helvetica"/>
              </a:rPr>
              <a:t>→  diagnosis  →  redesign  →  first statistically clean real-data 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22222"/>
                </a:solidFill>
                <a:latin typeface="Helvetica"/>
              </a:rPr>
              <a:t>Siddharth Chauhan  ·  CH21B103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88888"/>
                </a:solidFill>
                <a:latin typeface="Helvetica"/>
              </a:rPr>
              <a:t>Dual Degree Project  ·  Dept. of Data Science and AI  ·  IIT Madras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515600" cy="260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888888"/>
                </a:solidFill>
                <a:latin typeface="Helvetica"/>
              </a:rPr>
              <a:t>Update </a:t>
            </a:r>
            <a:r>
              <a:rPr sz="1500" b="0" i="0" dirty="0">
                <a:solidFill>
                  <a:srgbClr val="888888"/>
                </a:solidFill>
                <a:latin typeface="Helvetica"/>
              </a:rPr>
              <a:t>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92240"/>
            <a:ext cx="8229600" cy="191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888888"/>
                </a:solidFill>
                <a:latin typeface="Helvetica"/>
              </a:rPr>
              <a:t>Siddharth Chauhan  ·  CH21B103  |  DDP 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92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888888"/>
                </a:solidFill>
                <a:latin typeface="Helvetica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222222"/>
                </a:solidFill>
                <a:latin typeface="Helvetica"/>
              </a:rPr>
              <a:t>Initial objective and how it evolved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54864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888888"/>
                </a:solidFill>
                <a:latin typeface="Helvetica"/>
              </a:rPr>
              <a:t>From a single-line Week-1 goal to a precisely-bounded empirical claim by Week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191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888888"/>
                </a:solidFill>
                <a:latin typeface="Helvetica"/>
              </a:rPr>
              <a:t>Siddharth Chauhan  ·  CH21B103  |  DDP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888888"/>
                </a:solidFill>
                <a:latin typeface="Helvetica"/>
              </a:rPr>
              <a:t>2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03366"/>
                </a:solidFill>
                <a:latin typeface="Helvetica"/>
              </a:rPr>
              <a:t>Where we started  — 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3949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300">
                <a:solidFill>
                  <a:srgbClr val="222222"/>
                </a:solidFill>
                <a:latin typeface="Helvetica"/>
              </a:rPr>
              <a:t>Replicate Buehler et al. 2019: a neural-network policy that hedges an option by trading the underlying.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300">
                <a:solidFill>
                  <a:srgbClr val="222222"/>
                </a:solidFill>
                <a:latin typeface="Helvetica"/>
              </a:rPr>
              <a:t>Train under the Heston stochastic-volatility model, where Black–Scholes delta is provably sub-optimal.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300">
                <a:solidFill>
                  <a:srgbClr val="222222"/>
                </a:solidFill>
                <a:latin typeface="Helvetica"/>
              </a:rPr>
              <a:t>Minimise CVaR(95) of terminal P&amp;L, not variance — target the tail a trader actually carries.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300">
                <a:solidFill>
                  <a:srgbClr val="222222"/>
                </a:solidFill>
                <a:latin typeface="Helvetica"/>
              </a:rPr>
              <a:t>Beat BS-delta on the simulator, and try to reach the analytical Heston Δ–ν ceiling.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37760"/>
            <a:ext cx="5394960" cy="14173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3366"/>
                </a:solidFill>
                <a:latin typeface="Helvetica"/>
              </a:rPr>
              <a:t>Starting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222222"/>
                </a:solidFill>
                <a:latin typeface="Helvetica"/>
              </a:rPr>
              <a:t>Can a neural hedger beat the textbook formula when the textbook's assumptions are wrong?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03366"/>
                </a:solidFill>
                <a:latin typeface="Helvetica"/>
              </a:rPr>
              <a:t>Where we ended up  —  Week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91640"/>
            <a:ext cx="539496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200">
                <a:solidFill>
                  <a:srgbClr val="222222"/>
                </a:solidFill>
                <a:latin typeface="Helvetica"/>
              </a:rPr>
              <a:t>Simulator wins confirmed: deep hedger surpasses the analytical Δ–ν ceiling by +3.59 CVaR.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200">
                <a:solidFill>
                  <a:srgbClr val="222222"/>
                </a:solidFill>
                <a:latin typeface="Helvetica"/>
              </a:rPr>
              <a:t>Sim-to-real failure exposed (W7–8): same policy loses to BS on every real SPY crisis window.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200">
                <a:solidFill>
                  <a:srgbClr val="222222"/>
                </a:solidFill>
                <a:latin typeface="Helvetica"/>
              </a:rPr>
              <a:t>Block-bootstrap real-data retraining (W9) closes the in-period gap by 15×; COVID still loses.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200">
                <a:solidFill>
                  <a:srgbClr val="222222"/>
                </a:solidFill>
                <a:latin typeface="Helvetica"/>
              </a:rPr>
              <a:t>Diagnosis: timing not coverage. VIX + weekly rebal → first +ve OOT point estimate.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200">
                <a:solidFill>
                  <a:srgbClr val="222222"/>
                </a:solidFill>
                <a:latin typeface="Helvetica"/>
              </a:rPr>
              <a:t>Five-seed verification with pre-registered rules: 2024 OOT +1.16 ± 0.06 ✓; COVID rejected 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937760"/>
            <a:ext cx="5394960" cy="14173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3366"/>
                </a:solidFill>
                <a:latin typeface="Helvetica"/>
              </a:rPr>
              <a:t>Final thesis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0352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22222"/>
                </a:solidFill>
                <a:latin typeface="Helvetica"/>
              </a:rPr>
              <a:t>A CVaR-trained deep hedger beats the Heston ceiling in distribution, ties BS-delta on real SPY calibration periods, and beats BS-delta with high statistical significance on calm-market OOT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222222"/>
                </a:solidFill>
                <a:latin typeface="Helvetica"/>
              </a:rPr>
              <a:t>Methodology — core machinery (held constant across all 12 weeks)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54864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888888"/>
                </a:solidFill>
                <a:latin typeface="Helvetica"/>
              </a:rPr>
              <a:t>Three layers — only the data feeding the loss changes between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191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888888"/>
                </a:solidFill>
                <a:latin typeface="Helvetica"/>
              </a:rPr>
              <a:t>Siddharth Chauhan  ·  CH21B103  |  DDP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888888"/>
                </a:solidFill>
                <a:latin typeface="Helvetica"/>
              </a:rPr>
              <a:t>3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Helvetica"/>
              </a:rPr>
              <a:t>Market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56616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Heston SDE: 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dS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 = √v S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dW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,  dv =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κ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(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θ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−v)dt +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σ_v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 √v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dZ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, 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corr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(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dW,dZ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) =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ρ</a:t>
            </a:r>
            <a:endParaRPr sz="1100" dirty="0">
              <a:solidFill>
                <a:srgbClr val="222222"/>
              </a:solidFill>
              <a:latin typeface="Helvetica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Bates extension: + Poisson jumps,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λ_J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 = 1/yr,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μ_J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 = −5%,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σ_J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 = 8%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MLE-calibrated to SPY 2005–2019: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κ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=2.31,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θ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=0.029,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σ_v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=0.53,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ρ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=−0.71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Real-data mode (W9+): stationary block bootstrap (Politis–Romano), mean block = 10 days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Variance-swap proxy: EWMA(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λ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=0.94) variance, scaled by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σ_v^FIXED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 = 0.30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6576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Helvetica"/>
              </a:rPr>
              <a:t>Policy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56616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Feed-forward MLP, 2–3 hidden × 64–96 units (~30k params)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State: (S/S₀, VS/VS₀, t/T, prior positions) — 6 to 9 dims by stage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Actions: tanh-clipped per instrument; stock ±2, VS ±5, VIX ±0.3 (W11)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Final-layer init to zero so first epoch ≈ no-hedge baseline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Optimiser: Adam, lr 1e-4 to 3e-4, batch 256–512, grad clip = 1.0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FFFFFF"/>
                </a:solidFill>
                <a:latin typeface="Helvetica"/>
              </a:rPr>
              <a:t>Loss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920240"/>
            <a:ext cx="356616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L(π) = − CVaR_α(Π) + λ |E[Π]|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CVaR via Rockafellar–Uryasev convex form: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    η + (1/(1−α)) · E[(L − η)⁺],  jointly minimised in η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α annealed 0.80 → 0.95 over training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003366"/>
                </a:solidFill>
                <a:latin typeface="Helvetica"/>
              </a:rPr>
              <a:t>•  </a:t>
            </a:r>
            <a:r>
              <a:rPr sz="1100">
                <a:solidFill>
                  <a:srgbClr val="222222"/>
                </a:solidFill>
                <a:latin typeface="Helvetica"/>
              </a:rPr>
              <a:t>λ = 0 (W1–6) ; λ = 0.5 (W7+, mean-zero) ; λ = 1 (W8 sim-to-real)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 dirty="0">
                <a:solidFill>
                  <a:srgbClr val="888888"/>
                </a:solidFill>
                <a:latin typeface="Helvetica"/>
              </a:rPr>
              <a:t>Theory check (Week 7, Prop. 2):  |CVaR_α(</a:t>
            </a:r>
            <a:r>
              <a:rPr sz="1100" b="0" i="1" dirty="0" err="1">
                <a:solidFill>
                  <a:srgbClr val="888888"/>
                </a:solidFill>
                <a:latin typeface="Helvetica"/>
              </a:rPr>
              <a:t>Π_Δt</a:t>
            </a:r>
            <a:r>
              <a:rPr sz="1100" b="0" i="1" dirty="0">
                <a:solidFill>
                  <a:srgbClr val="888888"/>
                </a:solidFill>
                <a:latin typeface="Helvetica"/>
              </a:rPr>
              <a:t>) − CVaR_α(</a:t>
            </a:r>
            <a:r>
              <a:rPr sz="1100" b="0" i="1" dirty="0" err="1">
                <a:solidFill>
                  <a:srgbClr val="888888"/>
                </a:solidFill>
                <a:latin typeface="Helvetica"/>
              </a:rPr>
              <a:t>Π_cont</a:t>
            </a:r>
            <a:r>
              <a:rPr sz="1100" b="0" i="1" dirty="0">
                <a:solidFill>
                  <a:srgbClr val="888888"/>
                </a:solidFill>
                <a:latin typeface="Helvetica"/>
              </a:rPr>
              <a:t>)| ≤ </a:t>
            </a:r>
            <a:r>
              <a:rPr sz="1100" b="0" i="1" dirty="0" err="1">
                <a:solidFill>
                  <a:srgbClr val="888888"/>
                </a:solidFill>
                <a:latin typeface="Helvetica"/>
              </a:rPr>
              <a:t>C√Δt</a:t>
            </a:r>
            <a:r>
              <a:rPr sz="1100" b="0" i="1" dirty="0">
                <a:solidFill>
                  <a:srgbClr val="888888"/>
                </a:solidFill>
                <a:latin typeface="Helvetica"/>
              </a:rPr>
              <a:t> — empirically R² = 0.93 in the rebalancing-frequency sweep.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452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 dirty="0">
                <a:solidFill>
                  <a:srgbClr val="222222"/>
                </a:solidFill>
                <a:latin typeface="Helvetica"/>
              </a:rPr>
              <a:t>Methodology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54864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888888"/>
                </a:solidFill>
                <a:latin typeface="Helvetica"/>
              </a:rPr>
              <a:t>Each transition was forced by an empirical finding in the previous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191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888888"/>
                </a:solidFill>
                <a:latin typeface="Helvetica"/>
              </a:rPr>
              <a:t>Siddharth Chauhan  ·  CH21B103  |  DDP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888888"/>
                </a:solidFill>
                <a:latin typeface="Helvetica"/>
              </a:rPr>
              <a:t>4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828800" cy="2148840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83794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Buehler 2019;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Heston + Bates;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CVaR vs quadratic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86584" y="1417320"/>
            <a:ext cx="1828800" cy="2148840"/>
          </a:xfrm>
          <a:prstGeom prst="roundRect">
            <a:avLst/>
          </a:prstGeom>
          <a:solidFill>
            <a:srgbClr val="C8E6C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78024" y="183794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Heston + 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2286000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Bootstrap CIs;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DH+VS beats BS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by +2.43 CVaR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1417320"/>
            <a:ext cx="1828800" cy="2148840"/>
          </a:xfrm>
          <a:prstGeom prst="roundRect">
            <a:avLst/>
          </a:prstGeom>
          <a:solidFill>
            <a:srgbClr val="E8EEF6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183794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SPX 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286000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MLE on SPY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2005–2019;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κ=2.31, ρ=−0.71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1417320"/>
            <a:ext cx="1828800" cy="2148840"/>
          </a:xfrm>
          <a:prstGeom prst="roundRect">
            <a:avLst/>
          </a:prstGeom>
          <a:solidFill>
            <a:srgbClr val="C8E6C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183794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Analytical ceiling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286000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Heston Δ–ν =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−14.68; DH+VS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−11.09 (+3.59)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1417320"/>
            <a:ext cx="1828800" cy="2148840"/>
          </a:xfrm>
          <a:prstGeom prst="roundRect">
            <a:avLst/>
          </a:prstGeom>
          <a:solidFill>
            <a:srgbClr val="C8E6C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29016" y="183794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Bates jumps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6" y="2286000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BS −17.27 →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DH+VS −15.30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(Δ = +1.97)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1417320"/>
            <a:ext cx="1828800" cy="2148840"/>
          </a:xfrm>
          <a:prstGeom prst="roundRect">
            <a:avLst/>
          </a:prstGeom>
          <a:solidFill>
            <a:srgbClr val="C8E6C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12680" y="183794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Multi-asset spread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286000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4-instr DH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beats Margrabe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by +7.32 CVaR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30752"/>
            <a:ext cx="1828800" cy="2148840"/>
          </a:xfrm>
          <a:prstGeom prst="roundRect">
            <a:avLst/>
          </a:prstGeom>
          <a:solidFill>
            <a:srgbClr val="FFCDD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1513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Ablations + stress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599432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Design defended;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FIRST real-SPY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test → BS wins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86584" y="3730752"/>
            <a:ext cx="1828800" cy="2148840"/>
          </a:xfrm>
          <a:prstGeom prst="roundRect">
            <a:avLst/>
          </a:prstGeom>
          <a:solidFill>
            <a:srgbClr val="FFCDD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78024" y="41513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Sim-to-real sweep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78024" y="4599432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Bates+DR+λ-pen;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still loses to BS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on every window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0248" y="3730752"/>
            <a:ext cx="1828800" cy="2148840"/>
          </a:xfrm>
          <a:prstGeom prst="roundRect">
            <a:avLst/>
          </a:prstGeom>
          <a:solidFill>
            <a:srgbClr val="FFF9C4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61688" y="41513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Block-bootstrap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4599432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Train on real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SPY 2005–17;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GFC gap 15× smaller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3912" y="3730752"/>
            <a:ext cx="1828800" cy="2148840"/>
          </a:xfrm>
          <a:prstGeom prst="roundRect">
            <a:avLst/>
          </a:prstGeom>
          <a:solidFill>
            <a:srgbClr val="FFCDD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45352" y="41513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Expanded corpus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45352" y="4599432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COVID in-train;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gap closes only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23% — falsified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37576" y="3730752"/>
            <a:ext cx="1828800" cy="2148840"/>
          </a:xfrm>
          <a:prstGeom prst="roundRect">
            <a:avLst/>
          </a:prstGeom>
          <a:solidFill>
            <a:srgbClr val="FFF9C4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29016" y="41513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VIX as vega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29016" y="4599432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22222"/>
                </a:solidFill>
                <a:latin typeface="Helvetica"/>
              </a:rPr>
              <a:t>Leverage fix;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22222"/>
                </a:solidFill>
                <a:latin typeface="Helvetica"/>
              </a:rPr>
              <a:t>first +</a:t>
            </a:r>
            <a:r>
              <a:rPr sz="1000" b="0" i="0" dirty="0" err="1">
                <a:solidFill>
                  <a:srgbClr val="222222"/>
                </a:solidFill>
                <a:latin typeface="Helvetica"/>
              </a:rPr>
              <a:t>ve</a:t>
            </a:r>
            <a:r>
              <a:rPr sz="1000" b="0" i="0" dirty="0">
                <a:solidFill>
                  <a:srgbClr val="222222"/>
                </a:solidFill>
                <a:latin typeface="Helvetica"/>
              </a:rPr>
              <a:t> OOT</a:t>
            </a:r>
          </a:p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222222"/>
                </a:solidFill>
                <a:latin typeface="Helvetica"/>
              </a:rPr>
              <a:t>point est. +0.66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21240" y="3730752"/>
            <a:ext cx="1828800" cy="2148840"/>
          </a:xfrm>
          <a:prstGeom prst="roundRect">
            <a:avLst/>
          </a:prstGeom>
          <a:solidFill>
            <a:srgbClr val="D1C4E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012680" y="415137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22222"/>
                </a:solidFill>
                <a:latin typeface="Helvetica"/>
              </a:rPr>
              <a:t>Multi-seed verify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4599432"/>
            <a:ext cx="1645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Pre-registered;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2024 +1.16±0.06 ✓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COVID rejected 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989320"/>
            <a:ext cx="228600" cy="164592"/>
          </a:xfrm>
          <a:prstGeom prst="rect">
            <a:avLst/>
          </a:prstGeom>
          <a:solidFill>
            <a:srgbClr val="E8EEF6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60" y="59710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Setup / framing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5989320"/>
            <a:ext cx="228600" cy="164592"/>
          </a:xfrm>
          <a:prstGeom prst="rect">
            <a:avLst/>
          </a:prstGeom>
          <a:solidFill>
            <a:srgbClr val="C8E6C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926080" y="59710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Clean win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80" y="5989320"/>
            <a:ext cx="228600" cy="164592"/>
          </a:xfrm>
          <a:prstGeom prst="rect">
            <a:avLst/>
          </a:prstGeom>
          <a:solidFill>
            <a:srgbClr val="FFF9C4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29200" y="59710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Tie / partial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5989320"/>
            <a:ext cx="228600" cy="164592"/>
          </a:xfrm>
          <a:prstGeom prst="rect">
            <a:avLst/>
          </a:prstGeom>
          <a:solidFill>
            <a:srgbClr val="FFCDD2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132320" y="59710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Failure / rejected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61120" y="5989320"/>
            <a:ext cx="228600" cy="164592"/>
          </a:xfrm>
          <a:prstGeom prst="rect">
            <a:avLst/>
          </a:prstGeom>
          <a:solidFill>
            <a:srgbClr val="D1C4E9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35440" y="59710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22222"/>
                </a:solidFill>
                <a:latin typeface="Helvetica"/>
              </a:rPr>
              <a:t>Diagnosis /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222222"/>
                </a:solidFill>
                <a:latin typeface="Helvetica"/>
              </a:rPr>
              <a:t>Results part 1 — Weeks 2–8: simulator wins, real data breaks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54864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191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888888"/>
                </a:solidFill>
                <a:latin typeface="Helvetica"/>
              </a:rPr>
              <a:t>Siddharth Chauhan  ·  CH21B103  |  DDP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92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888888"/>
                </a:solidFill>
                <a:latin typeface="Helvetica"/>
              </a:rPr>
              <a:t>5 / 7</a:t>
            </a:r>
          </a:p>
        </p:txBody>
      </p:sp>
      <p:pic>
        <p:nvPicPr>
          <p:cNvPr id="6" name="Picture 5" descr="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035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767328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1">
                <a:solidFill>
                  <a:srgbClr val="888888"/>
                </a:solidFill>
                <a:latin typeface="Helvetica"/>
              </a:rPr>
              <a:t>Stock-only DH loses to BS. Adding a variance swap beats BS, and surpasses the analytical Heston Δ–ν ceiling by +3.59 CVaR.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366"/>
                </a:solidFill>
                <a:latin typeface="Helvetica"/>
              </a:rPr>
              <a:t>Simulator wins (Weeks 2 – 6)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343400"/>
          <a:ext cx="6035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Setting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Baseline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Helvetica"/>
                        </a:rPr>
                        <a:t>DH improvement 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Heston ATM call (W2)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BS  −15.92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+2.43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Bates with jumps (W5)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BS  −17.27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+1.97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Heston ceiling (W3–4)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Δ–ν  −14.68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+3.59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Multi-asset spread (W6)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Margrabe  −14.73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Helvetica"/>
                        </a:rPr>
                        <a:t>+7.32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0" y="10972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366"/>
                </a:solidFill>
                <a:latin typeface="Helvetica"/>
              </a:rPr>
              <a:t>Weeks 7–8 — first test on real SPY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0" y="1508760"/>
          <a:ext cx="47548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Window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BS CVaR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DH CVaR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2008 GFC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−12.12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−21.38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−9.26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2020 COVID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−8.59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−9.43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−0.84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2017 Calm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−2.62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−6.94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Helvetica"/>
                        </a:rPr>
                        <a:t>−4.32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0" y="32461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3366"/>
                </a:solidFill>
                <a:latin typeface="Helvetica"/>
              </a:rPr>
              <a:t>Week 8 — every variant of the sim-to-real fix fails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5661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Bates + SPX-calibrated + DR + mean-penalty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λ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 ∈ {0.5, 1, 2}.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Best variant: 2008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Δ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 = −14 to −25 ;  COVID </a:t>
            </a:r>
            <a:r>
              <a:rPr sz="1100" dirty="0" err="1">
                <a:solidFill>
                  <a:srgbClr val="222222"/>
                </a:solidFill>
                <a:latin typeface="Helvetica"/>
              </a:rPr>
              <a:t>Δ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 = −11 to −19.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100" dirty="0">
                <a:solidFill>
                  <a:srgbClr val="222222"/>
                </a:solidFill>
                <a:latin typeface="Helvetica"/>
              </a:rPr>
              <a:t>DH P&amp;L std is 5× BS on real SPY — invariant to training regime.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349240"/>
            <a:ext cx="47548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544068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22222"/>
                </a:solidFill>
                <a:latin typeface="Helvetica"/>
              </a:rPr>
              <a:t>Honest conclusion: in-distribution claims hold, universal-market claim is retracted. Next: train on real returns.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222222"/>
                </a:solidFill>
                <a:latin typeface="Helvetica"/>
              </a:rPr>
              <a:t>Results part 2 — Weeks 9–12: redesign, verify, characterise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54864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88888"/>
                </a:solidFill>
                <a:latin typeface="Helvetica"/>
              </a:rPr>
              <a:t>Siddharth Chauhan  ·  CH21B103  |  DDP supervisor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92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888888"/>
                </a:solidFill>
                <a:latin typeface="Helvetica"/>
              </a:rPr>
              <a:t>6 / 7</a:t>
            </a:r>
          </a:p>
        </p:txBody>
      </p:sp>
      <p:pic>
        <p:nvPicPr>
          <p:cNvPr id="6" name="Picture 5" descr="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768096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13766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1" dirty="0" err="1">
                <a:solidFill>
                  <a:srgbClr val="888888"/>
                </a:solidFill>
                <a:latin typeface="Helvetica"/>
              </a:rPr>
              <a:t>Δ</a:t>
            </a:r>
            <a:r>
              <a:rPr sz="1000" b="0" i="1" dirty="0">
                <a:solidFill>
                  <a:srgbClr val="888888"/>
                </a:solidFill>
                <a:latin typeface="Helvetica"/>
              </a:rPr>
              <a:t> across 7 SPY windows in three training regimes — simulator-trained (W7-8, pink), real-data trained (W9-10, yellow), VIX-redesign 5-seed (W12, green ± seed-std).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0972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3366"/>
                </a:solidFill>
                <a:latin typeface="Helvetica"/>
              </a:rPr>
              <a:t>What happened, week by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63040"/>
            <a:ext cx="30175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000" dirty="0">
                <a:solidFill>
                  <a:srgbClr val="222222"/>
                </a:solidFill>
                <a:latin typeface="Helvetica"/>
              </a:rPr>
              <a:t>W9 block bootstrap on SPY 2005–17:  GFC −25 → −1.67 (tie); COVID </a:t>
            </a:r>
            <a:r>
              <a:rPr sz="1000" dirty="0" err="1">
                <a:solidFill>
                  <a:srgbClr val="222222"/>
                </a:solidFill>
                <a:latin typeface="Helvetica"/>
              </a:rPr>
              <a:t>Δ</a:t>
            </a:r>
            <a:r>
              <a:rPr sz="1000" dirty="0">
                <a:solidFill>
                  <a:srgbClr val="222222"/>
                </a:solidFill>
                <a:latin typeface="Helvetica"/>
              </a:rPr>
              <a:t> = −6.47.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000" dirty="0">
                <a:solidFill>
                  <a:srgbClr val="222222"/>
                </a:solidFill>
                <a:latin typeface="Helvetica"/>
              </a:rPr>
              <a:t>W10 expanded to 2005–20 (COVID in-train):  gap closes only 23% — coverage hypothesis falsified.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000" dirty="0">
                <a:solidFill>
                  <a:srgbClr val="222222"/>
                </a:solidFill>
                <a:latin typeface="Helvetica"/>
              </a:rPr>
              <a:t>Diagnosis: timing not coverage. EWMA lags; daily </a:t>
            </a:r>
            <a:r>
              <a:rPr sz="1000" dirty="0" err="1">
                <a:solidFill>
                  <a:srgbClr val="222222"/>
                </a:solidFill>
                <a:latin typeface="Helvetica"/>
              </a:rPr>
              <a:t>rebal</a:t>
            </a:r>
            <a:r>
              <a:rPr sz="1000" dirty="0">
                <a:solidFill>
                  <a:srgbClr val="222222"/>
                </a:solidFill>
                <a:latin typeface="Helvetica"/>
              </a:rPr>
              <a:t> too fast.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000" dirty="0">
                <a:solidFill>
                  <a:srgbClr val="222222"/>
                </a:solidFill>
                <a:latin typeface="Helvetica"/>
              </a:rPr>
              <a:t>W11 add VIX + weekly </a:t>
            </a:r>
            <a:r>
              <a:rPr sz="1000" dirty="0" err="1">
                <a:solidFill>
                  <a:srgbClr val="222222"/>
                </a:solidFill>
                <a:latin typeface="Helvetica"/>
              </a:rPr>
              <a:t>rebal</a:t>
            </a:r>
            <a:r>
              <a:rPr sz="1000" dirty="0">
                <a:solidFill>
                  <a:srgbClr val="222222"/>
                </a:solidFill>
                <a:latin typeface="Helvetica"/>
              </a:rPr>
              <a:t>:  leverage fix needed (VIX moves 4× SPY); first +</a:t>
            </a:r>
            <a:r>
              <a:rPr sz="1000" dirty="0" err="1">
                <a:solidFill>
                  <a:srgbClr val="222222"/>
                </a:solidFill>
                <a:latin typeface="Helvetica"/>
              </a:rPr>
              <a:t>ve</a:t>
            </a:r>
            <a:r>
              <a:rPr sz="1000" dirty="0">
                <a:solidFill>
                  <a:srgbClr val="222222"/>
                </a:solidFill>
                <a:latin typeface="Helvetica"/>
              </a:rPr>
              <a:t> OOT estimate +0.66.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00" b="1" dirty="0">
                <a:solidFill>
                  <a:srgbClr val="003366"/>
                </a:solidFill>
                <a:latin typeface="Helvetica"/>
              </a:rPr>
              <a:t>•  </a:t>
            </a:r>
            <a:r>
              <a:rPr sz="1000" dirty="0">
                <a:solidFill>
                  <a:srgbClr val="222222"/>
                </a:solidFill>
                <a:latin typeface="Helvetica"/>
              </a:rPr>
              <a:t>W12 multi-seed × 5 + pre-registered rules.</a:t>
            </a:r>
          </a:p>
        </p:txBody>
      </p:sp>
      <p:pic>
        <p:nvPicPr>
          <p:cNvPr id="10" name="Picture 9" descr="seed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34840"/>
            <a:ext cx="585216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72084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1" dirty="0">
                <a:solidFill>
                  <a:srgbClr val="888888"/>
                </a:solidFill>
                <a:latin typeface="Helvetica"/>
              </a:rPr>
              <a:t>Per-seed </a:t>
            </a:r>
            <a:r>
              <a:rPr sz="1000" b="0" i="1" dirty="0" err="1">
                <a:solidFill>
                  <a:srgbClr val="888888"/>
                </a:solidFill>
                <a:latin typeface="Helvetica"/>
              </a:rPr>
              <a:t>Δ</a:t>
            </a:r>
            <a:r>
              <a:rPr sz="1000" b="0" i="1" dirty="0">
                <a:solidFill>
                  <a:srgbClr val="888888"/>
                </a:solidFill>
                <a:latin typeface="Helvetica"/>
              </a:rPr>
              <a:t>: 2024 OOT (tight, S/N ≈ 20:1) vs 2020 COVID (spread, std &gt; |mean|).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4348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03366"/>
                </a:solidFill>
                <a:latin typeface="Helvetica"/>
              </a:rPr>
              <a:t>Week 12: 5-seed verification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0" y="47548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Window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mean 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std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Helvetica"/>
                        </a:rPr>
                        <a:t>Verdict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2008 GFC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−7.79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3.29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unstable loss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2017 Calm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+0.48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0.14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robust tiny win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2018 Volm.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−3.02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1.41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unstable loss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2020 COVID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−8.05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4.96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REJECTED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2022 Rates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−2.20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0.87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small loss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2023 SVB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+0.07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0.27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statistical tie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2024 OOT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+1.16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Helvetica"/>
                        </a:rPr>
                        <a:t>0.06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22222"/>
                          </a:solidFill>
                          <a:latin typeface="Helvetica"/>
                        </a:rPr>
                        <a:t>ROBUST WIN 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222222"/>
                </a:solidFill>
                <a:latin typeface="Helvetica"/>
              </a:rPr>
              <a:t>Next steps — three candidate directions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54864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888888"/>
                </a:solidFill>
                <a:latin typeface="Helvetica"/>
              </a:rPr>
              <a:t>Each option attacks a different hypothesis about the Week-12 crisis instability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1912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888888"/>
                </a:solidFill>
                <a:latin typeface="Helvetica"/>
              </a:rPr>
              <a:t>Siddharth Chauhan  ·  CH21B103  |  DDP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922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888888"/>
                </a:solidFill>
                <a:latin typeface="Helvetica"/>
              </a:rPr>
              <a:t>7 /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Helvetica"/>
              </a:rP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Helvetica"/>
              </a:rPr>
              <a:t>Regime-gated architecture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Helvetica"/>
              </a:rPr>
              <a:t>(immediate next step)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3366"/>
                </a:solidFill>
                <a:latin typeface="Helvetica"/>
              </a:rPr>
              <a:t>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222"/>
                </a:solidFill>
                <a:latin typeface="Helvetica"/>
              </a:rPr>
              <a:t>Action scale is wrong outside calm markets — the policy should shrink the VIX position when realised vol is high.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3366"/>
                </a:solidFill>
                <a:latin typeface="Helvetica"/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222"/>
                </a:solidFill>
                <a:latin typeface="Helvetica"/>
              </a:rPr>
              <a:t>Add a learned gate g(σ_realised) ∈ [0,1] in front of the VIX action; train end-to-end on the W12 corpus.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3366"/>
                </a:solidFill>
                <a:latin typeface="Helvetica"/>
              </a:rP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22222"/>
                </a:solidFill>
                <a:latin typeface="Helvetica"/>
              </a:rPr>
              <a:t>Lowest risk, fastest to test (≈1 week).  Direct attack on the W12 diagnosis.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36576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Helvetica"/>
              </a:rPr>
              <a:t>OPTION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9202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Helvetica"/>
              </a:rPr>
              <a:t>Tail-robust optimisation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606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3366"/>
                </a:solidFill>
                <a:latin typeface="Helvetica"/>
              </a:rPr>
              <a:t>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8036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222"/>
                </a:solidFill>
                <a:latin typeface="Helvetica"/>
              </a:rPr>
              <a:t>Crisis instability is an outlier-gradient problem at the optimiser, not at the policy class.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94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3366"/>
                </a:solidFill>
                <a:latin typeface="Helvetica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06908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222"/>
                </a:solidFill>
                <a:latin typeface="Helvetica"/>
              </a:rPr>
              <a:t>Replace mini-batch mean gradient with median-of-means (Minsker 2015; Lugosi–Mendelson 2019); architecture unchanged.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9834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3366"/>
                </a:solidFill>
                <a:latin typeface="Helvetica"/>
              </a:rPr>
              <a:t>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2578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22222"/>
                </a:solidFill>
                <a:latin typeface="Helvetica"/>
              </a:rPr>
              <a:t>Cleanest theoretical story.  Medium risk, medium scope.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Helvetica"/>
              </a:rPr>
              <a:t>OPTION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9202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Helvetica"/>
              </a:rPr>
              <a:t>Neural SDE pivot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22222"/>
                </a:solidFill>
                <a:latin typeface="Helvetica"/>
              </a:rPr>
              <a:t>(Year-2 thesis spine)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6060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3366"/>
                </a:solidFill>
                <a:latin typeface="Helvetica"/>
              </a:rPr>
              <a:t>Hypothesis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88036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222"/>
                </a:solidFill>
                <a:latin typeface="Helvetica"/>
              </a:rPr>
              <a:t>Real-data training is too noisy; a generative simulator matching SPX marginals + tails is enough to train 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7947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3366"/>
                </a:solidFill>
                <a:latin typeface="Helvetica"/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069080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22222"/>
                </a:solidFill>
                <a:latin typeface="Helvetica"/>
              </a:rPr>
              <a:t>Fit a Neural SDE / Quant-GAN to SPY 2005–19; retrain hedger on its samples; test on real OOT 2020–24.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834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03366"/>
                </a:solidFill>
                <a:latin typeface="Helvetica"/>
              </a:rPr>
              <a:t>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2578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22222"/>
                </a:solidFill>
                <a:latin typeface="Helvetica"/>
              </a:rPr>
              <a:t>Biggest scope, longest timeline, highest paper upside.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69280"/>
            <a:ext cx="1106424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3366"/>
                </a:solidFill>
                <a:latin typeface="Helvetica"/>
              </a:rPr>
              <a:t>Current preference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80760"/>
            <a:ext cx="11064240" cy="446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 dirty="0">
                <a:solidFill>
                  <a:srgbClr val="222222"/>
                </a:solidFill>
                <a:latin typeface="Helvetica"/>
              </a:rPr>
              <a:t>A → B → C.  Sprint </a:t>
            </a:r>
            <a:r>
              <a:rPr lang="en-US" sz="1200" b="0" i="1" dirty="0">
                <a:solidFill>
                  <a:srgbClr val="222222"/>
                </a:solidFill>
                <a:latin typeface="Helvetica"/>
              </a:rPr>
              <a:t>A</a:t>
            </a:r>
            <a:r>
              <a:rPr sz="1200" b="0" i="1" dirty="0">
                <a:solidFill>
                  <a:srgbClr val="222222"/>
                </a:solidFill>
                <a:latin typeface="Helvetica"/>
              </a:rPr>
              <a:t> first because it directly tests the W12 diagnosis. Sprint </a:t>
            </a:r>
            <a:r>
              <a:rPr lang="en-US" sz="1200" b="0" i="1" dirty="0">
                <a:solidFill>
                  <a:srgbClr val="222222"/>
                </a:solidFill>
                <a:latin typeface="Helvetica"/>
              </a:rPr>
              <a:t>B</a:t>
            </a:r>
            <a:r>
              <a:rPr sz="1200" b="0" i="1" dirty="0">
                <a:solidFill>
                  <a:srgbClr val="222222"/>
                </a:solidFill>
                <a:latin typeface="Helvetica"/>
              </a:rPr>
              <a:t> as fallback if A does not close the crisis gap. Neural SDE once the real-data story is stable.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6b8078d2-d880-42d5-944a-a8ceac1db31a}" enabled="1" method="Privileged" siteId="{637dea52-1527-40fa-a2a6-ed45af23293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1645</Words>
  <Application>Microsoft Macintosh PowerPoint</Application>
  <PresentationFormat>Widescreen</PresentationFormat>
  <Paragraphs>225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Siddharth Chauhan</cp:lastModifiedBy>
  <cp:revision>2</cp:revision>
  <dcterms:created xsi:type="dcterms:W3CDTF">2013-01-27T09:14:16Z</dcterms:created>
  <dcterms:modified xsi:type="dcterms:W3CDTF">2026-05-14T06:33:45Z</dcterms:modified>
  <cp:category/>
</cp:coreProperties>
</file>