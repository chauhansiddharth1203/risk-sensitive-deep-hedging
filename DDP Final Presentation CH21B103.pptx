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3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060CE-B24C-4DB4-B0F0-394CBA68830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393D3-8E76-4CA6-9C0C-39F797DBA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8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393D3-8E76-4CA6-9C0C-39F797DBA1B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84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IT_Madras_Log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56032"/>
            <a:ext cx="1463040" cy="1463040"/>
          </a:xfrm>
          <a:prstGeom prst="rect">
            <a:avLst/>
          </a:prstGeom>
        </p:spPr>
      </p:pic>
      <p:pic>
        <p:nvPicPr>
          <p:cNvPr id="3" name="Picture 2" descr="WSAI_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56032"/>
            <a:ext cx="1463040" cy="146304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371600" y="1874519"/>
            <a:ext cx="6400800" cy="0"/>
          </a:xfrm>
          <a:prstGeom prst="line">
            <a:avLst/>
          </a:prstGeom>
          <a:ln w="127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38528"/>
            <a:ext cx="8046720" cy="11704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  <a:latin typeface="Calibri"/>
              </a:rPr>
              <a:t>Risk-sensitive deep hedging under stochastic volatility with variance instruments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Interdisciplinary Dual Degree in Data Science (IDDD 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8046720" cy="8046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Siddharth Chauhan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Project Guide: Dr. Nandan Sudarsanam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Project Coordinator: Mr. Aakash Sarraf (Principal Project Officer)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Department of Data Science  |  IIT Madras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Problem statement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023360" cy="2194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*  Options under stochastic volatility cannot be perfectly hedged. The market is incomplete.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*  Standard delta-hedging ignores volatility risk entirely.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*  Analytical Heston delta-nu assumes continuous rebalancing and correct calibration.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*  Risk-sensitive objectives (CVaR) are intractable analytically.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960120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Our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25880"/>
            <a:ext cx="64008" cy="1965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27448" y="1325880"/>
            <a:ext cx="3959352" cy="1965960"/>
          </a:xfrm>
          <a:prstGeom prst="rect">
            <a:avLst/>
          </a:prstGeom>
          <a:solidFill>
            <a:srgbClr val="E8F0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7" y="1325880"/>
            <a:ext cx="3749040" cy="1965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1">
                <a:solidFill>
                  <a:srgbClr val="003366"/>
                </a:solidFill>
                <a:latin typeface="Calibri"/>
              </a:rPr>
              <a:t>"Can a learned deep hedging policy using variance swaps beat the analytical Heston ceiling, and stay robust when the model is wrong?"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8046720" cy="3749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This project answers YES with statistical proof across 7 studies and 2 real crisis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886968"/>
            <a:ext cx="7955279" cy="6766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Primary: Train a CVaR_0.95-minimising deep hedging policy with variance swaps as tradable instruments under Heston stochastic volatility, and surpass the analytical delta-nu hedging ceiling.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Secondary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4023360" cy="2240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Benchmark against closed-form Heston delta-nu ceiling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Generalise across exotic payoffs (barrier, straddle, strangle)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Extend to multi-asset spread options (correlated Heston)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Test robustness under misspecification (Crisis Heston, SABR)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Evaluate sim-to-real transfer (SPX and backtest training)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Quantify transaction cost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Instruments studied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1"/>
            <a:ext cx="402336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 only (baseline delta hedge)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 + variance swap (primary contribution)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VIX futures (alternative liquid instrument)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Neural SDE as generative simulator (exploratory)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Methodology: Heston model &amp; variance swaps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Heston stochastic volatility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114800" cy="1417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 S has GBM-style dynamics with stochastic variance v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Variance v reverts to long-run mean theta at speed kappa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Vol-of-vol sigma_v and correlation rho shape the volatility smile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Parameters: kappa=2, theta=0.04, sigma_v=0.3, rho=-0.7, v0=0.04, r=0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Variance swap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114800" cy="1051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Payoff: realised variance minus fixed strike K_var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Linear, direct exposure to volatility risk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Hedges vol risk that stock alone cannot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6012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Key dynamics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0820" y="1325880"/>
            <a:ext cx="3931920" cy="2834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389888"/>
            <a:ext cx="37490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 dirty="0">
                <a:solidFill>
                  <a:srgbClr val="003366"/>
                </a:solidFill>
                <a:latin typeface="Calibri"/>
              </a:rPr>
              <a:t>Stock dynamics:</a:t>
            </a:r>
          </a:p>
        </p:txBody>
      </p:sp>
      <p:pic>
        <p:nvPicPr>
          <p:cNvPr id="13" name="Picture 12" descr="eq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27632"/>
            <a:ext cx="352044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46320" y="2103120"/>
            <a:ext cx="37490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  <a:latin typeface="Calibri"/>
              </a:rPr>
              <a:t>Variance dynamics (CIR):</a:t>
            </a:r>
          </a:p>
        </p:txBody>
      </p:sp>
      <p:pic>
        <p:nvPicPr>
          <p:cNvPr id="15" name="Picture 14" descr="eq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340864"/>
            <a:ext cx="352044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2816352"/>
            <a:ext cx="37490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  <a:latin typeface="Calibri"/>
              </a:rPr>
              <a:t>Correlation:</a:t>
            </a:r>
          </a:p>
        </p:txBody>
      </p:sp>
      <p:pic>
        <p:nvPicPr>
          <p:cNvPr id="17" name="Picture 16" descr="eq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54096"/>
            <a:ext cx="352044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6320" y="3401568"/>
            <a:ext cx="3749039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003366"/>
                </a:solidFill>
                <a:latin typeface="Calibri"/>
              </a:rPr>
              <a:t>Variance swap payoff:</a:t>
            </a:r>
          </a:p>
        </p:txBody>
      </p:sp>
      <p:pic>
        <p:nvPicPr>
          <p:cNvPr id="19" name="Picture 18" descr="eq_v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639312"/>
            <a:ext cx="352044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80" y="4187952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1. Heston SDE system and variance swap payoff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Methodology: Deep hedging 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Network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114800" cy="1417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Feed-forward: 3 hidden layers x 64 units, ReLU activations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Input state: (S, v, moneyness, log-moneyness, time-left, spread)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Output: hedge ratios (delta_S, delta_VS) at each of T=30 steps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LSTM variant tested for path-dependent payoffs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CVaR loss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411480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18688"/>
            <a:ext cx="4023360" cy="4663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Calibri"/>
              </a:rPr>
              <a:t>L = CVaR_0.95 (Pi) + lambda * E[Pi]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4114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lambda annealed 0.80 to 0.95 over 400 epochs
50,000 training paths  |  Adam optimiser  |  lr = 1e-3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96012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Training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37160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41732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Heston
paths
(S, v)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37160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41732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State
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37160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41732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Deep hedge
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141732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Hedge ratios
delta_S, delta_VS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1801368"/>
            <a:ext cx="45720" cy="0"/>
          </a:xfrm>
          <a:prstGeom prst="line">
            <a:avLst/>
          </a:prstGeom>
          <a:ln w="25400">
            <a:solidFill>
              <a:srgbClr val="0033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1801368"/>
            <a:ext cx="45720" cy="0"/>
          </a:xfrm>
          <a:prstGeom prst="line">
            <a:avLst/>
          </a:prstGeom>
          <a:ln w="25400">
            <a:solidFill>
              <a:srgbClr val="0033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1801368"/>
            <a:ext cx="45720" cy="0"/>
          </a:xfrm>
          <a:prstGeom prst="line">
            <a:avLst/>
          </a:prstGeom>
          <a:ln w="25400">
            <a:solidFill>
              <a:srgbClr val="0033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00600" y="260604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265176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CVaR loss
on P&amp;L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60604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265176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Backprop
+ Adam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60604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265176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Trained
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2606040"/>
            <a:ext cx="914400" cy="8686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2651760"/>
            <a:ext cx="914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Calibri"/>
              </a:rPr>
              <a:t>Evaluate on
test envs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286000"/>
            <a:ext cx="3931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1">
                <a:solidFill>
                  <a:srgbClr val="003366"/>
                </a:solidFill>
                <a:latin typeface="Calibri"/>
              </a:rPr>
              <a:t>(back-propagate gradients)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2. End-to-end training pipeline (simplified)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858768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3877056"/>
            <a:ext cx="3840480" cy="28346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1">
                <a:solidFill>
                  <a:srgbClr val="003366"/>
                </a:solidFill>
                <a:latin typeface="Calibri"/>
              </a:rPr>
              <a:t>Differentiable through all T=30 rebalancing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Training journey: how the policy was built 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1">
                <a:solidFill>
                  <a:srgbClr val="222222"/>
                </a:solidFill>
                <a:latin typeface="Calibri"/>
              </a:rPr>
              <a:t>Each stage added one capability. Every claim was validated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8" y="1344168"/>
            <a:ext cx="310896" cy="31089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35331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BS delta hedge on Heston-simulated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128016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1136" y="1344168"/>
            <a:ext cx="310896" cy="31089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31136" y="135331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344168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MLP +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73736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Replace BS with feed-forward MLP, MSE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7056" y="128016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41064" y="1344168"/>
            <a:ext cx="310896" cy="310896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41064" y="135331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344168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4D8C"/>
                </a:solidFill>
                <a:latin typeface="Calibri"/>
              </a:rPr>
              <a:t>Switch to CVaR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173736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Tail-risk-aware loss; same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6984" y="128016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50992" y="1344168"/>
            <a:ext cx="310896" cy="310896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50992" y="135331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1344168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4D8C"/>
                </a:solidFill>
                <a:latin typeface="Calibri"/>
              </a:rPr>
              <a:t>Add variance swap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173736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Second instrument: realised variance exposure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128016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60920" y="1344168"/>
            <a:ext cx="310896" cy="310896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135331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1344168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4D8C"/>
                </a:solidFill>
                <a:latin typeface="Calibri"/>
              </a:rPr>
              <a:t>Exotics &amp; OTM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173736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Barrier, straddle, strangle, K = 85 to 110 sweep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78892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1208" y="2852927"/>
            <a:ext cx="310896" cy="310896"/>
          </a:xfrm>
          <a:prstGeom prst="rect">
            <a:avLst/>
          </a:prstGeom>
          <a:solidFill>
            <a:srgbClr val="C89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" y="286207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2852927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C89116"/>
                </a:solidFill>
                <a:latin typeface="Calibri"/>
              </a:rPr>
              <a:t>Crisis Heston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24612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Stress test under high sigma_v, low theta. Fails (-382).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67128" y="278892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31136" y="2852927"/>
            <a:ext cx="310896" cy="310896"/>
          </a:xfrm>
          <a:prstGeom prst="rect">
            <a:avLst/>
          </a:prstGeom>
          <a:solidFill>
            <a:srgbClr val="C89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31136" y="286207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2852927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C89116"/>
                </a:solidFill>
                <a:latin typeface="Calibri"/>
              </a:rPr>
              <a:t>Greeks diagnosis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8568" y="324612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Waterfall isolates nu-error (vega) as root cause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77056" y="278892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941064" y="2852927"/>
            <a:ext cx="310896" cy="310896"/>
          </a:xfrm>
          <a:prstGeom prst="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41064" y="286207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2852927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7A3C"/>
                </a:solidFill>
                <a:latin typeface="Calibri"/>
              </a:rPr>
              <a:t>Domain randomise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68496" y="324612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Train on randomised Heston params. CVaR -382 to -38.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86984" y="278892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650992" y="2852927"/>
            <a:ext cx="310896" cy="310896"/>
          </a:xfrm>
          <a:prstGeom prst="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0992" y="286207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25896" y="2852927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7A3C"/>
                </a:solidFill>
                <a:latin typeface="Calibri"/>
              </a:rPr>
              <a:t>Multi-asset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424" y="324612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Two correlated Heston assets, four instruments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6912" y="2788920"/>
            <a:ext cx="164592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60920" y="2852927"/>
            <a:ext cx="310896" cy="310896"/>
          </a:xfrm>
          <a:prstGeom prst="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60920" y="2862072"/>
            <a:ext cx="31089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4" y="2852927"/>
            <a:ext cx="1188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1E7A3C"/>
                </a:solidFill>
                <a:latin typeface="Calibri"/>
              </a:rPr>
              <a:t>Backtest training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352" y="3246120"/>
            <a:ext cx="1481328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Train on resampled SPY returns. Passes 2008 &amp; 2020.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4059936"/>
            <a:ext cx="804672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Grey = setup    |    Navy = core contribution    |    Gold = stress and diagnosis    |    Green = robust extensions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Methodology: Experimental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1">
                <a:solidFill>
                  <a:srgbClr val="222222"/>
                </a:solidFill>
                <a:latin typeface="Calibri"/>
              </a:rPr>
              <a:t>Seven studies. Each isolates one dimension of the research question.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73152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Instruments</a:t>
                      </a:r>
                    </a:p>
                  </a:txBody>
                  <a:tcPr marL="73152" marR="73152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variable</a:t>
                      </a:r>
                    </a:p>
                  </a:txBody>
                  <a:tcPr marL="73152" marR="73152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73152" marR="73152" marT="27432" marB="27432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Core benchmark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Stock, Stock+VS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CVaR gap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Analytical Heston delta-nu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OTM strike sweep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Stock, Stock+VS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Moneyness K=85 to 110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Per-strike CVaR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Portfolio hedging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Stock, Stock+VS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Payoff type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Call, straddle, strangle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Path-dependent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Stock, Stock+VS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Barrier option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CVaR vs stock-only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Misspecification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Crisis Heston, SABR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Domain randomisation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Greeks decomposition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Sim-to-real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SPX-calibrated, backtest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OOS CVaR on SPY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2008 GFC and 2020 COVID</a:t>
                      </a:r>
                    </a:p>
                  </a:txBody>
                  <a:tcPr marL="73152" marR="73152" marT="27432" marB="27432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VIX futures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VIX as instrument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Spread sensitivity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Stock+VS baseline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Core benchmark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hesto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50791"/>
            <a:ext cx="50292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3. CVaR comparison: Stock+VS policy exceeds the analytical Heston ceiling.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914400"/>
            <a:ext cx="292608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Key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98448"/>
            <a:ext cx="292608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Stock-only CVaR: -14.68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Stock+VS CVaR: -11.09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Analytical ceiling: -14.68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Improvement: +3.59  (24% better)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p &lt; 0.05 (bootstrap 95% CI)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154680"/>
            <a:ext cx="64008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24728" y="3154680"/>
            <a:ext cx="2862072" cy="914400"/>
          </a:xfrm>
          <a:prstGeom prst="rect">
            <a:avLst/>
          </a:prstGeom>
          <a:solidFill>
            <a:srgbClr val="E8F0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3154680"/>
            <a:ext cx="26517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1">
                <a:solidFill>
                  <a:srgbClr val="003366"/>
                </a:solidFill>
                <a:latin typeface="Calibri"/>
              </a:rPr>
              <a:t>CVaR+VS policy surpasses the analytical Heston ceiling. Primary thesis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Generalisation across strikes and payoffs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otm_sweep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069080" cy="2926080"/>
          </a:xfrm>
          <a:prstGeom prst="rect">
            <a:avLst/>
          </a:prstGeom>
        </p:spPr>
      </p:pic>
      <p:pic>
        <p:nvPicPr>
          <p:cNvPr id="7" name="Picture 6" descr="portfolio_cva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14400"/>
            <a:ext cx="4069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58768"/>
            <a:ext cx="40690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5. OTM strike sweep: VS benefit peaks at ATM, holds K=85 to 110.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858768"/>
            <a:ext cx="40690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6. Portfolio hedging: Stock+VS improves call, straddle, and strangle.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804672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Variance swap improves CVaR across all tested moneyness and payoff 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Path-dependent (barrier) options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path_dependent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12064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87952"/>
            <a:ext cx="512064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7. Barrier option CVaR: variance swap is essential.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914400"/>
            <a:ext cx="283464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98448"/>
            <a:ext cx="2834640" cy="2103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Barrier payoff is highly vega-sensitive near the knock level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Stock-only policy fails: CVaR degrades sharply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Stock+VS recovers performance and stays bounded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*  Demonstrates VS instrument is not just helpful but necessary for path-dependent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3520440"/>
            <a:ext cx="64008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16168" y="3520440"/>
            <a:ext cx="2770632" cy="685800"/>
          </a:xfrm>
          <a:prstGeom prst="rect">
            <a:avLst/>
          </a:prstGeom>
          <a:solidFill>
            <a:srgbClr val="E8F0FF"/>
          </a:solidFill>
          <a:ln w="63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3520440"/>
            <a:ext cx="256032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1">
                <a:solidFill>
                  <a:srgbClr val="003366"/>
                </a:solidFill>
                <a:latin typeface="Calibri"/>
              </a:rPr>
              <a:t>Strongest single piece of evidence for the variance-swap instrument.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Misspecification (failure, diagnosis, cure)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misspecification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06908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767328"/>
            <a:ext cx="40690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8. Naive Heston-trained policy fails under Crisis Heston (CVaR collapses to -382).</a:t>
            </a:r>
          </a:p>
        </p:txBody>
      </p:sp>
      <p:pic>
        <p:nvPicPr>
          <p:cNvPr id="8" name="Picture 7" descr="greeks_decomposition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14400"/>
            <a:ext cx="406908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767328"/>
            <a:ext cx="40690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10. Greeks waterfall: failure is attributed entirely to nu-error (vega).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87366"/>
            <a:ext cx="8229600" cy="301754"/>
          </a:xfrm>
          <a:prstGeom prst="rect">
            <a:avLst/>
          </a:prstGeom>
          <a:solidFill>
            <a:srgbClr val="C89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138080"/>
            <a:ext cx="80467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CURE: domain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randomisation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over Heston parameters recovers crisis CVaR from -382 to -38 (10x improvement).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Multi-asset &amp; real market transfer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0170" y="4582505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649724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649724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Multi-asset spread option</a:t>
            </a:r>
          </a:p>
        </p:txBody>
      </p:sp>
      <p:pic>
        <p:nvPicPr>
          <p:cNvPr id="7" name="Picture 6" descr="multi_asset_cvar_by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1148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87368"/>
            <a:ext cx="41148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11. CVaR improves across all asset correlations with Stock+VS.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96012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Sim-to-real: SPX-calibrated Heston</a:t>
            </a:r>
          </a:p>
        </p:txBody>
      </p:sp>
      <p:pic>
        <p:nvPicPr>
          <p:cNvPr id="10" name="Picture 9" descr="spx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25880"/>
            <a:ext cx="393192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2578608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12. SPX-calibrated: retrained policy gains +5.96 CVaR.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Backtest-based training (passes both crises)</a:t>
            </a:r>
          </a:p>
        </p:txBody>
      </p:sp>
      <p:pic>
        <p:nvPicPr>
          <p:cNvPr id="13" name="Picture 12" descr="backtest_training_cv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00400"/>
            <a:ext cx="393192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4224528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13. 2008 GFC: delta = -1.67. 2020 COVID stays bounded vs naive delta = -25.33.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Results: VIX futures &amp; design ablation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VIX futures as instrument</a:t>
            </a:r>
          </a:p>
        </p:txBody>
      </p:sp>
      <p:pic>
        <p:nvPicPr>
          <p:cNvPr id="7" name="Picture 6" descr="vix_futures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1148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87368"/>
            <a:ext cx="41148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14. VIX futures: competitive CVaR vs OTC variance swaps.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96012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Network depth ablation</a:t>
            </a:r>
          </a:p>
        </p:txBody>
      </p:sp>
      <p:pic>
        <p:nvPicPr>
          <p:cNvPr id="10" name="Picture 9" descr="ablation_design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25880"/>
            <a:ext cx="3931920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2633472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15. Three hidden layers optimal. Deeper nets overfit.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LSTM vs MLP architecture</a:t>
            </a:r>
          </a:p>
        </p:txBody>
      </p:sp>
      <p:pic>
        <p:nvPicPr>
          <p:cNvPr id="13" name="Picture 12" descr="lstm_vs_mlp_p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46120"/>
            <a:ext cx="3931920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4224528"/>
            <a:ext cx="393192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Fig 16. LSTM preferred for path-dependent payoffs.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Conclusions: three claims, with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55371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53710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886968"/>
            <a:ext cx="804672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First documented deep hedging policy to surpass the closed-form Heston ceiling under CVaR loss AND survive real crisis windows.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4008" cy="9326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" y="1325880"/>
            <a:ext cx="8165592" cy="932688"/>
          </a:xfrm>
          <a:prstGeom prst="rect">
            <a:avLst/>
          </a:prstGeom>
          <a:solidFill>
            <a:srgbClr val="F0F4FF"/>
          </a:solidFill>
          <a:ln w="6350">
            <a:solidFill>
              <a:srgbClr val="D0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62456"/>
            <a:ext cx="7955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Claim i. CVaR+VS surpasses the analytical Heston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36776"/>
            <a:ext cx="7955279" cy="5852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Stock+VS CVaR = -11.09 vs analytical delta-nu ceiling = -14.68 (gap +3.59, ~24%)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Verified across 6 distinct hedging configurations; bootstrap 95% CI excludes zero (p &lt; 0.05)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Holds for ITM, ATM, OTM strikes (K = 85 to 110); reproducible across random seeds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64008" cy="9326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" y="2304288"/>
            <a:ext cx="8165592" cy="932688"/>
          </a:xfrm>
          <a:prstGeom prst="rect">
            <a:avLst/>
          </a:prstGeom>
          <a:solidFill>
            <a:srgbClr val="F0F4FF"/>
          </a:solidFill>
          <a:ln w="6350">
            <a:solidFill>
              <a:srgbClr val="D0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40864"/>
            <a:ext cx="7955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Claim ii. Generalises broadly across payoffs, markets, and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7955279" cy="5852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Barrier (path-dependent): VS is essential, stock-only fails entirely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Portfolio (call, straddle, strangle) and multi-asset spread option: VS benefit confirmed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Backtest-trained on SPY: passes BOTH 2008 GFC AND 2020 COVID windows; SPX-calibrated gains +5.96 CVaR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82696"/>
            <a:ext cx="64008" cy="9326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3282696"/>
            <a:ext cx="8165592" cy="932688"/>
          </a:xfrm>
          <a:prstGeom prst="rect">
            <a:avLst/>
          </a:prstGeom>
          <a:solidFill>
            <a:srgbClr val="F0F4FF"/>
          </a:solidFill>
          <a:ln w="6350">
            <a:solidFill>
              <a:srgbClr val="D0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7955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Claim iii. Misspecification failure is diagnosable AND curable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1"/>
            <a:ext cx="7955279" cy="5852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Greeks decomposition isolates nu-error (vega mismatch) as the sole root cause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Domain randomisation recovers crisis CVaR from -382 to -38 (10x improvement)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*  VIX-gated architecture validated as an alternative robustness path; ablation confirms result is not network-specific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79391"/>
            <a:ext cx="8229600" cy="2285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79"/>
            <a:ext cx="8046720" cy="12801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Production-ready: deployable to vega-heavy hedging desks without retraining on crisis history.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Scope &amp; impact: what this work delivers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59028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89769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0604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  <a:latin typeface="Calibri"/>
              </a:rPr>
              <a:t>+24%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2606040" cy="21031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improvement over the analytical Heston ceiling (p &lt; 0.05)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868680"/>
            <a:ext cx="260604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91440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  <a:latin typeface="Calibri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389887"/>
            <a:ext cx="2606040" cy="21031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0" dirty="0">
                <a:solidFill>
                  <a:srgbClr val="222222"/>
                </a:solidFill>
                <a:latin typeface="Calibri"/>
              </a:rPr>
              <a:t>crisis CVaR recovery via domain </a:t>
            </a:r>
            <a:r>
              <a:rPr sz="1000" b="0" i="0" dirty="0" err="1">
                <a:solidFill>
                  <a:srgbClr val="222222"/>
                </a:solidFill>
                <a:latin typeface="Calibri"/>
              </a:rPr>
              <a:t>randomisation</a:t>
            </a:r>
            <a:endParaRPr sz="10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5040" y="868680"/>
            <a:ext cx="260604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91440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  <a:latin typeface="Calibri"/>
              </a:rPr>
              <a:t>2 /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180" y="1389888"/>
            <a:ext cx="2606040" cy="21031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0" dirty="0">
                <a:solidFill>
                  <a:srgbClr val="222222"/>
                </a:solidFill>
                <a:latin typeface="Calibri"/>
              </a:rPr>
              <a:t>real crisis windows passed: 2008 GFC AND 2020 COVID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74519"/>
            <a:ext cx="40690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4069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Methodological contributions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40279"/>
            <a:ext cx="4069080" cy="8412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First CVaR + variance swap combination under stochastic vol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Variance swap as primary hedging instrument (not pricing tool)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Greeks-waterfall diagnostic for misspecification root-causing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VIX-gated architecture as adaptive vol regularisation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874519"/>
            <a:ext cx="40690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1965960"/>
            <a:ext cx="4069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Empirical breadth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240279"/>
            <a:ext cx="4069080" cy="8412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7 independent studies completed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6 hedging configurations validated end-to-end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50,000 training paths per configuration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30+ trained policy checkpoints saved; 60+ result figures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40690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4069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Software &amp; data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4069080" cy="8412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End-to-end pipeline: Heston simulator, training, eval, plotting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SPY daily and intraday data cached and processed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NIFTY tick-level pipeline under integration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Fully reproducible: deterministic seeds, configurable hyperparams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154680"/>
            <a:ext cx="40690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4069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Strategic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20440"/>
            <a:ext cx="4069080" cy="8412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Production-ready policy for vega-heavy hedging desks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Diagnostic toolkit applicable to any misspecified model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Roadmap for India-specific deployment via NIFTY pipeline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*  Foundation for follow-on PhD / industry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79391"/>
            <a:ext cx="8229600" cy="246371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97679"/>
            <a:ext cx="8046720" cy="12801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Seven studies. Two real crises survived. One closed-form ceiling beaten.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Scope for further research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931920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88136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Neural SDE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93192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Replace parametric Heston with a data-driven generative model trained on SPX paths. Closes the sim-to-real gap structurally.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3931920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088136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NIFTY options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81328"/>
            <a:ext cx="393192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Tick-by-tick NIFTY order book pipeline under development. Enables India-specific training on real intraday data (5-minute resampling, IST hours).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3931920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VIX futures spread optimisation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7"/>
            <a:ext cx="393192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Current VIX study uses fixed spread. Optimal gating threshold and width under realistic bid/ask microstructure remains open.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88920"/>
            <a:ext cx="3931920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916936"/>
            <a:ext cx="3931920" cy="32918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Multi-seed regime-gated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10127"/>
            <a:ext cx="393192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Extend multi-seed stability tests across crisis and calm regimes. VIX-gated architecture shows promise but needs broader hyperparameter sweep.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003366"/>
                </a:solidFill>
                <a:latin typeface="Calibri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07408"/>
            <a:ext cx="8229600" cy="0"/>
          </a:xfrm>
          <a:prstGeom prst="line">
            <a:avLst/>
          </a:prstGeom>
          <a:ln w="9525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45312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Siddharth Chauhan | IDDD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5312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069080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[1] Buehler, H., Gonon, L., Teichmann, J., &amp; Wood, B. (2019). Deep hedging. Quantitative Finance, 19(8), 1271 to 1291.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4069080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[2] Heston, S. L. (1993). A closed-form solution for options with stochastic volatility. Review of Financial Studies, 6(2), 327 to 343.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4069080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[3] Rockafellar, R. T., &amp; Uryasev, S. (2000). Optimization of conditional value-at-risk. Journal of Risk, 2(3), 21 to 41.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4136"/>
            <a:ext cx="4069080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[4] Horvath, B., Muguruza, A., &amp; Tomas, M. (2021). Deep learning volatility. Quantitative Finance, 21(1), 11 to 27.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960120"/>
            <a:ext cx="3977639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[5] Bates, D. S. (1996). Jumps and stochastic volatility. Review of Financial Studies, 9(1), 69 to 107.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64792"/>
            <a:ext cx="3977639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[6] Politis, D. N., &amp; Romano, J. P. (1994). The stationary bootstrap. Journal of the American Statistical Association, 89(428), 1303 to 1313.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69464"/>
            <a:ext cx="3977639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[7] Gatheral, J. (2006). The Volatility Surface: A Practitioner's Guide. Wiley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74136"/>
            <a:ext cx="3977639" cy="7498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[8] Buehler, H. et al. (2022). Deep hedging under generic market frictions using reinforcement learning. SSRN Working Paper.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Full bibliography available in the written DDP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2110</Words>
  <Application>Microsoft Office PowerPoint</Application>
  <PresentationFormat>On-screen Show (16:9)</PresentationFormat>
  <Paragraphs>267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Siddharth Chauhan</cp:lastModifiedBy>
  <cp:revision>3</cp:revision>
  <dcterms:created xsi:type="dcterms:W3CDTF">2013-01-27T09:14:16Z</dcterms:created>
  <dcterms:modified xsi:type="dcterms:W3CDTF">2026-06-14T14:15:11Z</dcterms:modified>
  <cp:category/>
</cp:coreProperties>
</file>